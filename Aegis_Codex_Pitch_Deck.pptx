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11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5486400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OPENAI × OUTSKILL HACKATHON — LIVE SYSTEM ]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583680" y="45720"/>
            <a:ext cx="118872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ACTIVE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83680" y="36576"/>
            <a:ext cx="1188720" cy="21031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583680" y="41148"/>
            <a:ext cx="118872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ACTIVE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863840" y="36576"/>
            <a:ext cx="1005840" cy="21031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863840" y="41148"/>
            <a:ext cx="100584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THREAT: HIGH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292608"/>
            <a:ext cx="9144000" cy="365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0" y="1069848"/>
            <a:ext cx="9144000" cy="365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0" y="1847088"/>
            <a:ext cx="9144000" cy="365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0" y="2624328"/>
            <a:ext cx="9144000" cy="365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0" y="3401568"/>
            <a:ext cx="9144000" cy="365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0" y="4178808"/>
            <a:ext cx="9144000" cy="365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7160" y="908866"/>
            <a:ext cx="914400" cy="73152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 sz="1400" b="1">
                <a:solidFill>
                  <a:srgbClr val="FF4B5C"/>
                </a:solidFill>
                <a:latin typeface="Consolas"/>
              </a:defRPr>
            </a:pPr>
            <a:r>
              <a:rPr lang="en-US" sz="4400" b="1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[!]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188720" y="868680"/>
            <a:ext cx="7589520" cy="9144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5200" b="1" kern="0" spc="6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AEGIS_CODEX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1188720" y="1949135"/>
            <a:ext cx="7589520" cy="36576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1300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 GEOPOLITICAL PORTFOLIO STRESSING ENGINE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88720" y="2450592"/>
            <a:ext cx="6583680" cy="47548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20" y="2450592"/>
            <a:ext cx="7589520" cy="47548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1200" i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"Every portfolio has a breaking point. We expose it with an auditable swarm debate."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27248"/>
            <a:ext cx="2286000" cy="71323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2286000" cy="39227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3540923"/>
            <a:ext cx="2286000" cy="249631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AGENTS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429000" y="3127248"/>
            <a:ext cx="2286000" cy="71323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29000" y="3200400"/>
            <a:ext cx="2286000" cy="39227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429000" y="3540923"/>
            <a:ext cx="2286000" cy="249631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API SCANS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00800" y="3127248"/>
            <a:ext cx="2286000" cy="71323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0" y="3200400"/>
            <a:ext cx="2286000" cy="39227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0" y="3540923"/>
            <a:ext cx="2286000" cy="249631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ARIZE TRACING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4005072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" y="4069080"/>
            <a:ext cx="5943600" cy="2286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 sz="800">
                <a:solidFill>
                  <a:srgbClr val="B2CCD6"/>
                </a:solidFill>
                <a:latin typeface="Consolas"/>
              </a:defRPr>
            </a:pPr>
            <a:r>
              <a:rPr lang="en-US" sz="750" kern="0" spc="2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WITH:  OPENAI CODEX  |  NVIDIA NIM  |  ARIZE PHOENIX  |  VERCEL SERVERLESS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7920" y="4069080"/>
            <a:ext cx="2834640" cy="2286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  <a:defRPr sz="800">
                <a:solidFill>
                  <a:srgbClr val="00F0FF"/>
                </a:solidFill>
                <a:latin typeface="Consolas"/>
              </a:defRPr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MOOSA TALHA  //  IIM KOZHIKODE  //  BATCH 29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THE PROBLEM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6692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30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BLIND SPOTS IN GEOPOLITICAL CRISES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212080" cy="84124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6576" cy="84124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1106424"/>
            <a:ext cx="489204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85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[01] MACRO SPEED DECAY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4937760" cy="50292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models take weeks to assess macro shocks. Geopolitical events compress asset values in hours. Delay is an invitation to capital destruction.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5212080" cy="84124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36576" cy="84124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489204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85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[02] LLM ECHO CHAMBERS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4937760" cy="50292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Single-perspective AI risk summaries suffer from severe confirmation bias. Structured adversarial debate is mandatory to steel-manned extreme scenarios.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916936"/>
            <a:ext cx="5212080" cy="84124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36576" cy="84124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489204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85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[03] THE TELEMETRY BLACK BOX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191256"/>
            <a:ext cx="4937760" cy="50292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agentic architectures run as unmonitored loops. Deploying live stress-testing without auditable telemetry is a major operational risk.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3108960" cy="1417320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760720" y="1051560"/>
            <a:ext cx="3108960" cy="25603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1051560"/>
            <a:ext cx="310896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800" b="1" kern="0" spc="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70448" y="1353312"/>
            <a:ext cx="2907792" cy="106070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unified system exists that scans news threats — runs adversarial debates (Bear vs. Bull) — generates WACC/haircut stresses — and exports auditable Arize telemetry traces in seconds.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2596896"/>
            <a:ext cx="3108960" cy="1051560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760720" y="2651760"/>
            <a:ext cx="3108960" cy="54864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4B5C"/>
                </a:solidFill>
                <a:latin typeface="Consolas"/>
              </a:defRPr>
            </a:pPr>
            <a:r>
              <a:rPr lang="en-US" sz="38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806440" y="3182112"/>
            <a:ext cx="301752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70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FINANCIAL FIRMS CONCERNED ABOUT TAIL-RISK EXPOSURE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806440" y="3383280"/>
            <a:ext cx="301752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700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YET FEW HAVE SYSTEMATIC TOOLS TO MODEL REAL-TIME CRISES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806440" y="3584448"/>
            <a:ext cx="3017520" cy="16459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650" dirty="0">
                <a:solidFill>
                  <a:srgbClr val="44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INSTITUTIONAL RISK SURVEY 2026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65760" y="3886200"/>
            <a:ext cx="8412480" cy="18288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650" kern="0" spc="200" dirty="0">
                <a:solidFill>
                  <a:srgbClr val="44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CODEX — PROPRIETARY &amp;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PROPOSED SOLUTION &amp; JOURNEY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28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CODEX: THE 4-STEP RISK WATERFALL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225296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1225296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1243584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832104" y="1261872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INGEST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" y="1463040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imports asset watchlist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86584" y="1719072"/>
            <a:ext cx="27432" cy="7315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" y="1792224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20040" y="1810512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FF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2104" y="1828800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WATCHTOWER SCAN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" y="2029968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Searches Tavily/yFinance to output localized Chaos Index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86584" y="2286000"/>
            <a:ext cx="27432" cy="7315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0040" y="2359152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20040" y="2359152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>
              <a:highlight>
                <a:srgbClr val="00FFFF"/>
              </a:highlight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2104" y="2395728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TRIBUNAL SWARM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" y="2596896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 and Bull Analysts debate; Black Swan Judge synthesizes WFV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86584" y="2852928"/>
            <a:ext cx="27432" cy="7315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20040" y="2706624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20040" y="2706624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20040" y="2724912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>
              <a:highlight>
                <a:srgbClr val="00FF00"/>
              </a:highlight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2104" y="2724912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 PATCH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" y="2944368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Generates revised IC stress memo and model patch code via Codex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31436" y="1280160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631436" y="1280160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631436" y="1298448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43500" y="1316736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 RECORD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43500" y="1517904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Traces all prompt inputs, outputs, and latencies live to Arize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31436" y="1847088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631436" y="1847088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631436" y="1865376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FF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43500" y="1883664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HEDGE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43500" y="2084832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Executes option-hedging rules (protective puts) to preserve capital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31436" y="2414016"/>
            <a:ext cx="4160520" cy="493776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631436" y="2414016"/>
            <a:ext cx="438912" cy="493776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631436" y="2432304"/>
            <a:ext cx="438912" cy="45720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200" b="1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>
              <a:highlight>
                <a:srgbClr val="00FFFF"/>
              </a:highlight>
            </a:endParaRPr>
          </a:p>
        </p:txBody>
      </p:sp>
      <p:sp>
        <p:nvSpPr>
          <p:cNvPr id="41" name="Text 39"/>
          <p:cNvSpPr/>
          <p:nvPr/>
        </p:nvSpPr>
        <p:spPr>
          <a:xfrm>
            <a:off x="5143500" y="2450592"/>
            <a:ext cx="3593592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43500" y="2651760"/>
            <a:ext cx="359359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 Committee reviews and approves distressed WACC changes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26280" y="960120"/>
            <a:ext cx="13716" cy="312724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53568" y="992124"/>
            <a:ext cx="4114800" cy="16459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650" kern="0" spc="2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 PHASE 1: AUTOMATED THREAT DISCOVERY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675632" y="987552"/>
            <a:ext cx="4114800" cy="16459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650" kern="0" spc="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 PHASE 2: ADVERSARIAL ANALYSIS &amp; HEDGING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20040" y="3822192"/>
            <a:ext cx="8503920" cy="38404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320040" y="3822192"/>
            <a:ext cx="8503920" cy="38404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800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3 SWARM AGENTS  ·  OPENAI CODEX + NVIDIA NIM ORCHESTRATION  ·  ARIZE PHOENIX TELEMETRY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SYSTEM TECH STACK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>
                <a:solidFill>
                  <a:srgbClr val="F0F6FC"/>
                </a:solidFill>
                <a:latin typeface="Consolas"/>
              </a:defRPr>
            </a:pPr>
            <a:r>
              <a:rPr lang="en-US" sz="2400" b="1" kern="0" spc="2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SERVERLESS AGENT ORCHESTRATION &amp; TELEMETRY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6692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36576" cy="56692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48056" y="1042416"/>
            <a:ext cx="22860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8056" y="1261872"/>
            <a:ext cx="2286000" cy="18288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Codex + NVIDIA NIM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80360" y="1124712"/>
            <a:ext cx="640080" cy="25603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80360" y="1124712"/>
            <a:ext cx="6400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060704"/>
            <a:ext cx="10973" cy="420624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5212080" cy="42062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Codex endpoint for model patch code generation with auto-failover to NVIDIA NIM Llama-3.3-70B-Instruct for swarm debates.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600200"/>
            <a:ext cx="8503920" cy="56692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600200"/>
            <a:ext cx="36576" cy="56692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8056" y="1655064"/>
            <a:ext cx="22860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" y="1874520"/>
            <a:ext cx="2286000" cy="18288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Arize Phoenix (OTel)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80360" y="1737360"/>
            <a:ext cx="640080" cy="25603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880360" y="1737360"/>
            <a:ext cx="6400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673352"/>
            <a:ext cx="10973" cy="420624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794760" y="1691640"/>
            <a:ext cx="5212080" cy="42062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trace spans, agent inputs, and prompt token parameters to Phoenix SaaS, with synchronous shipping configured for serverless execution.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212848"/>
            <a:ext cx="8503920" cy="56692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20040" y="2212848"/>
            <a:ext cx="36576" cy="56692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8056" y="2267712"/>
            <a:ext cx="22860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GROUNDING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2487168"/>
            <a:ext cx="2286000" cy="18288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Tavily Search + yFinance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80360" y="2350008"/>
            <a:ext cx="640080" cy="25603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880360" y="2350008"/>
            <a:ext cx="6400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0" y="2286000"/>
            <a:ext cx="10973" cy="420624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94760" y="2304288"/>
            <a:ext cx="5212080" cy="42062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Retrieves real-time geopolitical news feeds and historical asset prices/multi-factor beta parameters to avoid hallucinations.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825496"/>
            <a:ext cx="8503920" cy="56692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20040" y="2825496"/>
            <a:ext cx="36576" cy="56692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48056" y="2880360"/>
            <a:ext cx="22860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" y="3099816"/>
            <a:ext cx="2286000" cy="18288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Serverless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80360" y="2962656"/>
            <a:ext cx="640080" cy="25603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880360" y="2962656"/>
            <a:ext cx="6400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898648"/>
            <a:ext cx="10973" cy="420624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794760" y="2916936"/>
            <a:ext cx="5212080" cy="42062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converted to lightweight Python serverless functions, enabling high-performance REST APIs without persistent server overhead.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438144"/>
            <a:ext cx="8503920" cy="566928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20040" y="3438144"/>
            <a:ext cx="36576" cy="566928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48056" y="3493008"/>
            <a:ext cx="22860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" y="3712464"/>
            <a:ext cx="2286000" cy="18288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/ Vanilla CSS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880360" y="3575304"/>
            <a:ext cx="640080" cy="25603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2880360" y="3575304"/>
            <a:ext cx="6400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T=0.0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0" y="3511296"/>
            <a:ext cx="10973" cy="420624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794760" y="3529584"/>
            <a:ext cx="5212080" cy="42062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high-contrast single-page dashboard featuring responsive grid layouts, telemetry SVG animations, and collapsible trace explorers.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206240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65760" y="4279392"/>
            <a:ext cx="8412480" cy="16459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Serverless telemetry: Synchronous trace shipper ensures OTel data ingestion before lambda container suspension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65760" y="4462272"/>
            <a:ext cx="8412480" cy="16459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Grounded AI: Every agent output is anchored in live financial metrics and real-time news search results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20116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50" kern="0" spc="3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TARGET AUDIENCE &amp; VALUE PROPOSITION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non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2800" b="1" kern="0" spc="30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FIT: PROACTIVE TAIL-RISK HEDGING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846320" cy="89611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75488" cy="89611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475488" cy="78638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418795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BUY-SIDE ASSET MANAGERS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4187952" cy="56692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fund managers and retail RIAs holding concentrated semiconductor/hardware positions susceptible to sudden regulatory and trade friction.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4846320" cy="89611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475488" cy="89611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20040" y="2011680"/>
            <a:ext cx="475488" cy="78638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020824"/>
            <a:ext cx="418795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MANAGEMENT TEAMS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258568"/>
            <a:ext cx="4187952" cy="56692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Institutional risk officers seeking transparent, auditable alternatives to static annual spreadsheets. OpenTelemetry traces make agent logic verifiable.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846320" cy="89611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475488" cy="89611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20040" y="2962656"/>
            <a:ext cx="475488" cy="78638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418795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HEDGE FUNDS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209544"/>
            <a:ext cx="4187952" cy="56692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Quantitative and macro trading desks looking to extract structural alpha by identifying and pricing geopolitical risks before the broader market.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58768"/>
            <a:ext cx="4846320" cy="896112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20040" y="3858768"/>
            <a:ext cx="475488" cy="89611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20040" y="3913632"/>
            <a:ext cx="475488" cy="78638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922776"/>
            <a:ext cx="4187952" cy="219456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9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HEDGING VALUE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4187952" cy="566928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Automates Option Overlay strategies, computing WACC premiums and recommending protective puts before options market prices in the volatility spike.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49240" y="1005840"/>
            <a:ext cx="3520440" cy="3794760"/>
          </a:xfrm>
          <a:prstGeom prst="rect">
            <a:avLst/>
          </a:prstGeom>
          <a:solidFill>
            <a:srgbClr val="101724"/>
          </a:solidFill>
          <a:ln w="1524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349240" y="1005840"/>
            <a:ext cx="3520440" cy="274320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349240" y="1005840"/>
            <a:ext cx="3520440" cy="274320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kern="0" spc="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 vs. PEERS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1316736"/>
            <a:ext cx="20116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b="1" kern="0" spc="100" dirty="0">
                <a:solidFill>
                  <a:srgbClr val="88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470648" y="1316736"/>
            <a:ext cx="640080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b="1" kern="0" spc="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138160" y="1316736"/>
            <a:ext cx="658368" cy="256032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00F0FF"/>
                </a:solidFill>
                <a:latin typeface="Consolas"/>
              </a:defRPr>
            </a:pPr>
            <a:r>
              <a:rPr lang="en-US" sz="700" b="1" kern="0" spc="1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22392" y="1591056"/>
            <a:ext cx="3374136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394960" y="1609344"/>
            <a:ext cx="3429000" cy="3474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458968" y="1645920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Swarm consensus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70648" y="1645920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38160" y="1645920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58968" y="2020824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search grounding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70648" y="2020824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38160" y="2020824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94960" y="2359152"/>
            <a:ext cx="3429000" cy="3474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458968" y="2395728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Arize Phoenix tracing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70648" y="2395728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2395728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58968" y="2770632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serverless scale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470648" y="2770632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38160" y="2770632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94960" y="3108960"/>
            <a:ext cx="3429000" cy="3474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458968" y="3145536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code patch output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470648" y="3145536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38160" y="3145536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58968" y="3520440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Transparent formulas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470648" y="3520440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38160" y="3520440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94960" y="3858768"/>
            <a:ext cx="3429000" cy="3474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458968" y="3895344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latency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70648" y="3895344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&lt;15s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138160" y="3895344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58968" y="4270248"/>
            <a:ext cx="1993392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750" dirty="0">
                <a:solidFill>
                  <a:srgbClr val="EAE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 methods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470648" y="4270248"/>
            <a:ext cx="640080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>
                <a:solidFill>
                  <a:srgbClr val="B2CCD6"/>
                </a:solidFill>
                <a:latin typeface="Consolas"/>
              </a:defRPr>
            </a:pPr>
            <a:r>
              <a:rPr lang="en-US" sz="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(DCF/EBITDA/BV)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138160" y="4270248"/>
            <a:ext cx="658368" cy="237744"/>
          </a:xfrm>
          <a:prstGeom prst="rect">
            <a:avLst/>
          </a:prstGeom>
          <a:solidFill>
            <a:srgbClr val="101724"/>
          </a:solidFill>
          <a:ln>
            <a:solidFill>
              <a:srgbClr val="162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b="1">
                <a:solidFill>
                  <a:srgbClr val="FF9F1C"/>
                </a:solidFill>
                <a:latin typeface="Consolas"/>
              </a:defRPr>
            </a:pPr>
            <a:r>
              <a:rPr lang="en-US" sz="8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4818888"/>
            <a:ext cx="8595360" cy="4572"/>
          </a:xfrm>
          <a:prstGeom prst="rect">
            <a:avLst/>
          </a:prstGeom>
          <a:solidFill>
            <a:srgbClr val="101724"/>
          </a:solidFill>
          <a:ln w="12700">
            <a:solidFill>
              <a:srgbClr val="162235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710</Words>
  <Application>Microsoft Office PowerPoint</Application>
  <PresentationFormat>On-screen Show (16:9)</PresentationFormat>
  <Paragraphs>128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Doomsday</dc:title>
  <dc:subject>PptxGenJS Presentation</dc:subject>
  <dc:creator>Moosa | IIM Kozhikode</dc:creator>
  <cp:lastModifiedBy>Moosa Al Kaseri</cp:lastModifiedBy>
  <cp:revision>2</cp:revision>
  <dcterms:created xsi:type="dcterms:W3CDTF">2026-05-13T09:33:23Z</dcterms:created>
  <dcterms:modified xsi:type="dcterms:W3CDTF">2026-05-28T17:40:39Z</dcterms:modified>
</cp:coreProperties>
</file>