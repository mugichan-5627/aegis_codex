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6DF70-604B-45DF-95E7-47F35E582BBB}" v="2" dt="2026-05-13T15:54:15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sa Al Kaseri" userId="f20c3b01fb42b298" providerId="LiveId" clId="{39754DE4-0306-4883-90BD-D6A8252B179E}"/>
    <pc:docChg chg="undo custSel modSld">
      <pc:chgData name="Moosa Al Kaseri" userId="f20c3b01fb42b298" providerId="LiveId" clId="{39754DE4-0306-4883-90BD-D6A8252B179E}" dt="2026-05-18T02:23:54.528" v="101" actId="20577"/>
      <pc:docMkLst>
        <pc:docMk/>
      </pc:docMkLst>
      <pc:sldChg chg="modSp mod">
        <pc:chgData name="Moosa Al Kaseri" userId="f20c3b01fb42b298" providerId="LiveId" clId="{39754DE4-0306-4883-90BD-D6A8252B179E}" dt="2026-05-18T02:23:54.528" v="101" actId="20577"/>
        <pc:sldMkLst>
          <pc:docMk/>
          <pc:sldMk cId="0" sldId="256"/>
        </pc:sldMkLst>
        <pc:spChg chg="mod">
          <ac:chgData name="Moosa Al Kaseri" userId="f20c3b01fb42b298" providerId="LiveId" clId="{39754DE4-0306-4883-90BD-D6A8252B179E}" dt="2026-05-18T02:23:54.528" v="10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9:55.275" v="83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9:50.920" v="81" actId="20577"/>
          <ac:spMkLst>
            <pc:docMk/>
            <pc:sldMk cId="0" sldId="256"/>
            <ac:spMk id="28" creationId="{00000000-0000-0000-0000-000000000000}"/>
          </ac:spMkLst>
        </pc:spChg>
        <pc:spChg chg="mod">
          <ac:chgData name="Moosa Al Kaseri" userId="f20c3b01fb42b298" providerId="LiveId" clId="{39754DE4-0306-4883-90BD-D6A8252B179E}" dt="2026-05-18T02:23:38.663" v="94" actId="20577"/>
          <ac:spMkLst>
            <pc:docMk/>
            <pc:sldMk cId="0" sldId="256"/>
            <ac:spMk id="32" creationId="{00000000-0000-0000-0000-000000000000}"/>
          </ac:spMkLst>
        </pc:spChg>
      </pc:sldChg>
      <pc:sldChg chg="addSp modSp mod">
        <pc:chgData name="Moosa Al Kaseri" userId="f20c3b01fb42b298" providerId="LiveId" clId="{39754DE4-0306-4883-90BD-D6A8252B179E}" dt="2026-05-13T15:56:46.711" v="26" actId="403"/>
        <pc:sldMkLst>
          <pc:docMk/>
          <pc:sldMk cId="0" sldId="258"/>
        </pc:sldMkLst>
        <pc:spChg chg="mod">
          <ac:chgData name="Moosa Al Kaseri" userId="f20c3b01fb42b298" providerId="LiveId" clId="{39754DE4-0306-4883-90BD-D6A8252B179E}" dt="2026-05-13T15:54:33.569" v="12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4:20.110" v="11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6:42.232" v="24" actId="404"/>
          <ac:spMkLst>
            <pc:docMk/>
            <pc:sldMk cId="0" sldId="258"/>
            <ac:spMk id="44" creationId="{00000000-0000-0000-0000-000000000000}"/>
          </ac:spMkLst>
        </pc:spChg>
        <pc:spChg chg="mod">
          <ac:chgData name="Moosa Al Kaseri" userId="f20c3b01fb42b298" providerId="LiveId" clId="{39754DE4-0306-4883-90BD-D6A8252B179E}" dt="2026-05-13T15:56:46.711" v="26" actId="403"/>
          <ac:spMkLst>
            <pc:docMk/>
            <pc:sldMk cId="0" sldId="258"/>
            <ac:spMk id="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5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A1020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chemeClr val="bg1"/>
                </a:solidFill>
                <a:latin typeface="Courier New" pitchFamily="34" charset="0"/>
                <a:cs typeface="Courier New" pitchFamily="34" charset="-120"/>
              </a:rPr>
              <a:t>[ DEVPOST— </a:t>
            </a:r>
            <a:r>
              <a:rPr lang="en-US" sz="1200" b="1" kern="0" spc="100" dirty="0">
                <a:solidFill>
                  <a:schemeClr val="bg1"/>
                </a:solidFill>
                <a:latin typeface="Courier New" pitchFamily="34" charset="0"/>
                <a:cs typeface="Courier New" pitchFamily="34" charset="-120"/>
              </a:rPr>
              <a:t>LIVE SYSTEM ]</a:t>
            </a:r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 ACTIVE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583680" y="36576"/>
            <a:ext cx="1188720" cy="210312"/>
          </a:xfrm>
          <a:prstGeom prst="rect">
            <a:avLst/>
          </a:prstGeom>
          <a:solidFill>
            <a:srgbClr val="001F1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411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 ACTIVE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863840" y="36576"/>
            <a:ext cx="1005840" cy="210312"/>
          </a:xfrm>
          <a:prstGeom prst="rect">
            <a:avLst/>
          </a:prstGeom>
          <a:solidFill>
            <a:srgbClr val="1F0F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11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THREAT: HIGH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292608"/>
            <a:ext cx="9144000" cy="3658"/>
          </a:xfrm>
          <a:prstGeom prst="rect">
            <a:avLst/>
          </a:prstGeom>
          <a:solidFill>
            <a:srgbClr val="151E35"/>
          </a:solidFill>
          <a:ln w="12700">
            <a:solidFill>
              <a:srgbClr val="15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069848"/>
            <a:ext cx="9144000" cy="3658"/>
          </a:xfrm>
          <a:prstGeom prst="rect">
            <a:avLst/>
          </a:prstGeom>
          <a:solidFill>
            <a:srgbClr val="151E35"/>
          </a:solidFill>
          <a:ln w="12700">
            <a:solidFill>
              <a:srgbClr val="15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847088"/>
            <a:ext cx="9144000" cy="3658"/>
          </a:xfrm>
          <a:prstGeom prst="rect">
            <a:avLst/>
          </a:prstGeom>
          <a:solidFill>
            <a:srgbClr val="151E35"/>
          </a:solidFill>
          <a:ln w="12700">
            <a:solidFill>
              <a:srgbClr val="15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624328"/>
            <a:ext cx="9144000" cy="3658"/>
          </a:xfrm>
          <a:prstGeom prst="rect">
            <a:avLst/>
          </a:prstGeom>
          <a:solidFill>
            <a:srgbClr val="151E35"/>
          </a:solidFill>
          <a:ln w="12700">
            <a:solidFill>
              <a:srgbClr val="15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401568"/>
            <a:ext cx="9144000" cy="3658"/>
          </a:xfrm>
          <a:prstGeom prst="rect">
            <a:avLst/>
          </a:prstGeom>
          <a:solidFill>
            <a:srgbClr val="151E35"/>
          </a:solidFill>
          <a:ln w="12700">
            <a:solidFill>
              <a:srgbClr val="15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78808"/>
            <a:ext cx="9144000" cy="3658"/>
          </a:xfrm>
          <a:prstGeom prst="rect">
            <a:avLst/>
          </a:prstGeom>
          <a:solidFill>
            <a:srgbClr val="151E35"/>
          </a:solidFill>
          <a:ln w="12700">
            <a:solidFill>
              <a:srgbClr val="15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79" y="369418"/>
            <a:ext cx="1106659" cy="1322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[!]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309446" y="352044"/>
            <a:ext cx="6468794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6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DOOMSDAY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274320" y="2037107"/>
            <a:ext cx="8595360" cy="4572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5597" y="2061515"/>
            <a:ext cx="6149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MULTI-AGENT BLACK SWAN STRESS-TESTING ENGINE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88720" y="2450592"/>
            <a:ext cx="6583680" cy="475488"/>
          </a:xfrm>
          <a:prstGeom prst="rect">
            <a:avLst/>
          </a:prstGeom>
          <a:solidFill>
            <a:srgbClr val="0F1A1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45059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"Every portfolio has a breaking point. We find it </a:t>
            </a:r>
            <a:r>
              <a:rPr lang="en-US" sz="1200" i="1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120 </a:t>
            </a:r>
            <a:r>
              <a:rPr lang="en-US" sz="12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seconds."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27248"/>
            <a:ext cx="2286000" cy="71323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0"/>
            <a:ext cx="2286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3540923"/>
            <a:ext cx="228600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429000" y="3127248"/>
            <a:ext cx="2286000" cy="71323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200400"/>
            <a:ext cx="2286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429000" y="3540923"/>
            <a:ext cx="228600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 SEARCH VECTORS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400800" y="3127248"/>
            <a:ext cx="2286000" cy="71323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200400"/>
            <a:ext cx="2286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~&lt;120s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0" y="3540923"/>
            <a:ext cx="228600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TIME PER AGENT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4320" y="4005072"/>
            <a:ext cx="8595360" cy="4572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174236"/>
            <a:ext cx="4393809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bg1"/>
                </a:solidFill>
                <a:latin typeface="Courier New" pitchFamily="34" charset="0"/>
                <a:cs typeface="Courier New" pitchFamily="34" charset="-120"/>
              </a:rPr>
              <a:t>BUILT WITH:  GOOGLE GEMINI 2.0 FLASH  |  TAVILY  |  STREAMLIT  |  PYTHON</a:t>
            </a:r>
          </a:p>
        </p:txBody>
      </p:sp>
      <p:sp>
        <p:nvSpPr>
          <p:cNvPr id="32" name="Text 30"/>
          <p:cNvSpPr/>
          <p:nvPr/>
        </p:nvSpPr>
        <p:spPr>
          <a:xfrm>
            <a:off x="4862146" y="4114800"/>
            <a:ext cx="344306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MOOSA TALHA AL KASERI</a:t>
            </a:r>
          </a:p>
          <a:p>
            <a:pPr marL="0" indent="0" algn="r">
              <a:buNone/>
            </a:pP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THE PROBLEM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BLIND SPOTS KILL PORTFOLIOS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45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5212080" cy="84124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36576" cy="841248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0642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[01] NORMAL DISTRIBUTION FAILURE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models assume gaussian returns — they collapse precisely when tail risk materialises. 2008, COVID, SVB were not outliers. They were the model's blind spot.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5212080" cy="84124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84248"/>
            <a:ext cx="36576" cy="8412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[02] SILOED RISK IDENTIFICATION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Analysts identify risks in isolation, missing second-order cascades and geographic convergence. Risk [A] triggering Risk [B] triggering Risk [C] is invisible to current tools.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916936"/>
            <a:ext cx="5212080" cy="84124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916936"/>
            <a:ext cx="36576" cy="8412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[03] THE TOOLING GAP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1912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 tools are either too simplistic (flat % haircuts), too slow (weeks of manual scenario work), or black boxes with zero methodology transparency.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60720" y="1051560"/>
            <a:ext cx="3108960" cy="1417320"/>
          </a:xfrm>
          <a:prstGeom prst="rect">
            <a:avLst/>
          </a:prstGeom>
          <a:solidFill>
            <a:srgbClr val="0A0F1E"/>
          </a:solidFill>
          <a:ln w="15240">
            <a:solidFill>
              <a:srgbClr val="FF2D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051560"/>
            <a:ext cx="3108960" cy="25603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051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70448" y="1353312"/>
            <a:ext cx="29077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tool exists that identifies specific, current Black Swan risks — validates them adversarially — maps geographic propagation — models contagion cascades — and computes distressed valuations. Transparently. In under 60 seconds.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60720" y="2596896"/>
            <a:ext cx="3108960" cy="1051560"/>
          </a:xfrm>
          <a:prstGeom prst="rect">
            <a:avLst/>
          </a:prstGeom>
          <a:solidFill>
            <a:srgbClr val="0A0F1E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806440" y="31821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INSTITUTIONAL INVESTORS CITE TAIL RISK AS #1 CONCERN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806440" y="33832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YET ONLY 12% HAVE SYSTEMATIC TOOLS TO MODEL IT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806440" y="35844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4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CFA INSTITUTE 2024 SURVEY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8595360" cy="4572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8620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200" dirty="0">
                <a:solidFill>
                  <a:srgbClr val="44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DOOMSDAY —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SYSTEM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18569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WORKS: 7-STEP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493776"/>
          </a:xfrm>
          <a:prstGeom prst="rect">
            <a:avLst/>
          </a:prstGeom>
          <a:solidFill>
            <a:srgbClr val="0F1525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38912" cy="4937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" y="1042416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2104" y="1243584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Ticker + Chaos Level (0–1)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86584" y="1499616"/>
            <a:ext cx="27432" cy="73152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72768"/>
            <a:ext cx="4160520" cy="493776"/>
          </a:xfrm>
          <a:prstGeom prst="rect">
            <a:avLst/>
          </a:prstGeom>
          <a:solidFill>
            <a:srgbClr val="0F1525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72768"/>
            <a:ext cx="438912" cy="4937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59105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" y="160934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 STATE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" y="1810512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VIX / Oil / Gold / Yields → Global Fear Class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86584" y="2066544"/>
            <a:ext cx="27432" cy="73152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39696"/>
            <a:ext cx="4160520" cy="493776"/>
          </a:xfrm>
          <a:prstGeom prst="rect">
            <a:avLst/>
          </a:prstGeom>
          <a:solidFill>
            <a:srgbClr val="0F1525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139696"/>
            <a:ext cx="438912" cy="4937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5798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" y="2176272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 PROFILE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" y="2377440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ticker resolve · Auto USD normalisation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86584" y="2633472"/>
            <a:ext cx="27432" cy="73152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706624"/>
            <a:ext cx="4160520" cy="493776"/>
          </a:xfrm>
          <a:prstGeom prst="rect">
            <a:avLst/>
          </a:prstGeom>
          <a:solidFill>
            <a:srgbClr val="0F1525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706624"/>
            <a:ext cx="438912" cy="4937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2491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" y="2743200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 SCAN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" y="294436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parallel Tavily vectors → Gemini synthesises 6 material risks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4160520" cy="493776"/>
          </a:xfrm>
          <a:prstGeom prst="rect">
            <a:avLst/>
          </a:prstGeom>
          <a:solidFill>
            <a:srgbClr val="0F1525"/>
          </a:solidFill>
          <a:ln w="15240">
            <a:solidFill>
              <a:srgbClr val="FF2D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005840"/>
            <a:ext cx="438912" cy="493776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02412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75504" y="1042416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TRIBUNAL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75504" y="1243584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 ⟷ Bull ⟷ Judge — 3-agent debate per risk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1572768"/>
            <a:ext cx="4160520" cy="493776"/>
          </a:xfrm>
          <a:prstGeom prst="rect">
            <a:avLst/>
          </a:prstGeom>
          <a:solidFill>
            <a:srgbClr val="0F1525"/>
          </a:solidFill>
          <a:ln w="15240">
            <a:solidFill>
              <a:srgbClr val="00FF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572768"/>
            <a:ext cx="438912" cy="4937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59105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75504" y="1609344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GEOGRAPHIC MAPPING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75504" y="1810512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Fracture nodes + curved convergence lines on Plotly globe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2139696"/>
            <a:ext cx="4160520" cy="493776"/>
          </a:xfrm>
          <a:prstGeom prst="rect">
            <a:avLst/>
          </a:prstGeom>
          <a:solidFill>
            <a:srgbClr val="0F1525"/>
          </a:solidFill>
          <a:ln w="15240">
            <a:solidFill>
              <a:srgbClr val="00FF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139696"/>
            <a:ext cx="438912" cy="4937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15798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75504" y="2176272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VALUATION + CASCADE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75504" y="2377440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5-path methodology · Contagion propagation · Transparent waterfall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26280" y="960120"/>
            <a:ext cx="13716" cy="3127248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" y="722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 PHASE 1: INTELLIGENCE GATHERING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7086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 PHASE 2: ANALYSIS &amp; OUTPUT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3822192"/>
            <a:ext cx="8503920" cy="384048"/>
          </a:xfrm>
          <a:prstGeom prst="rect">
            <a:avLst/>
          </a:prstGeom>
          <a:solidFill>
            <a:srgbClr val="0A0E1A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82219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 5 AI AGENTS IN COORDINATION  ·  GEMINI 2.0 FLASH VIA GOOGLE AI STUDIO  ·  FAILOVER: NVIDIA NIM + FIREWORKS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MULTI-AGENT SYSTEM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SPECIALIZED AGENTS IN COORDINATED SWARM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56692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36576" cy="5669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042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 ANALYST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8056" y="1261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DISCOVERY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880360" y="1124712"/>
            <a:ext cx="640080" cy="256032"/>
          </a:xfrm>
          <a:prstGeom prst="rect">
            <a:avLst/>
          </a:prstGeom>
          <a:solidFill>
            <a:srgbClr val="1A1F3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1247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1060704"/>
            <a:ext cx="10973" cy="42062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07899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Synthesises 6 Tavily vectors + company fundamentals into geolocated risk scenarios with severity, probability &amp; revenue-at-risk estimates.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600200"/>
            <a:ext cx="8503920" cy="56692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600200"/>
            <a:ext cx="36576" cy="566928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655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 ADVOCATE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PROSECUTION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80360" y="1737360"/>
            <a:ext cx="640080" cy="256032"/>
          </a:xfrm>
          <a:prstGeom prst="rect">
            <a:avLst/>
          </a:prstGeom>
          <a:solidFill>
            <a:srgbClr val="1A1F30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1737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673352"/>
            <a:ext cx="10973" cy="42062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69164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Argues worst-case with historical precedents and catastrophic framing. Pushes severity UP. Adversarial counterweight.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212848"/>
            <a:ext cx="8503920" cy="56692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212848"/>
            <a:ext cx="36576" cy="56692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2267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 ADVOCATE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DEFENCE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880360" y="2350008"/>
            <a:ext cx="640080" cy="256032"/>
          </a:xfrm>
          <a:prstGeom prst="rect">
            <a:avLst/>
          </a:prstGeom>
          <a:solidFill>
            <a:srgbClr val="1A1F3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2350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0" y="2286000"/>
            <a:ext cx="10973" cy="42062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23042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Challenges evidence, presents mitigating factors, argues market has priced the risk in. Pushes severity DOWN.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825496"/>
            <a:ext cx="8503920" cy="56692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825496"/>
            <a:ext cx="36576" cy="5669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FRACTURE JUDGE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8056" y="30998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VERDICT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880360" y="2962656"/>
            <a:ext cx="640080" cy="256032"/>
          </a:xfrm>
          <a:prstGeom prst="rect">
            <a:avLst/>
          </a:prstGeom>
          <a:solidFill>
            <a:srgbClr val="1A1F3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0360" y="29626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0" y="2898648"/>
            <a:ext cx="10973" cy="42062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291693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Low-temperature, high-conviction. Calibrated rubric: 8+ catastrophic, 6–7 material, &lt;4 dismissed. Final authority.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438144"/>
            <a:ext cx="8503920" cy="56692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438144"/>
            <a:ext cx="36576" cy="5669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" y="3493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CONTAGION MODELER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8056" y="37124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880360" y="3575304"/>
            <a:ext cx="640080" cy="256032"/>
          </a:xfrm>
          <a:prstGeom prst="rect">
            <a:avLst/>
          </a:prstGeom>
          <a:solidFill>
            <a:srgbClr val="1A1F3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80360" y="35753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57600" y="3511296"/>
            <a:ext cx="10973" cy="42062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94760" y="352958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2nd / 3rd / 4th-order propagation. Traces how a shock cascades through P&amp;L → credit → refinancing → capex.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206240"/>
            <a:ext cx="8595360" cy="4572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2793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Single-agent = confirmation bias  ·  adversarial architecture forces steel-manning before judgment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65760" y="44622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Mimics real IC process: Research Analyst → IC Debate → PM Decision  ·  Judge T=0.3 = calibrated low-variance verdicts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DIFFERENTIATORS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THIS DIFFERENT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846320" cy="89611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75488" cy="89611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60704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69848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CONTEXT-AWARE VALUATION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30759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distinct methodologies routed by company type. Banks get P/BV. Cyclicals get normalised EBITDA. High-growth gets EV/Revenue. Market-anchored, stressed downward only.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956816"/>
            <a:ext cx="4846320" cy="89611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56816"/>
            <a:ext cx="475488" cy="89611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11680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020824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GEOGRAPHIC INTELLIGENCE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258568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risk mapped to physical coordinates. Curved convergence lines show vulnerability concentration. Visual answer to: where on Earth is my exposure?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4846320" cy="89611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07792"/>
            <a:ext cx="475488" cy="89611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62656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71800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CONTAGION CASCADES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209544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Risk A → Effect B → Effect C propagation. Compound correlation (ρ → 1) as chaos increases. Inspired by Kiyotaki-Moore credit cycles and Minsky Moments.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58768"/>
            <a:ext cx="4846320" cy="89611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858768"/>
            <a:ext cx="475488" cy="89611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13632"/>
            <a:ext cx="475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922776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TRANSPARENCY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160520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formula shown with numbers plugged in. Every routing decision flagged. Every agent reasoning visible. Same inputs → same methodology → same output.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49240" y="1005840"/>
            <a:ext cx="3520440" cy="3794760"/>
          </a:xfrm>
          <a:prstGeom prst="rect">
            <a:avLst/>
          </a:prstGeom>
          <a:solidFill>
            <a:srgbClr val="0A0E1A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1005840"/>
            <a:ext cx="3520440" cy="2743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10058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DOOMSDAY vs. MARKET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40680" y="1316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470648" y="13167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138160" y="13167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22392" y="1591056"/>
            <a:ext cx="3374136" cy="4572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1609344"/>
            <a:ext cx="3429000" cy="347472"/>
          </a:xfrm>
          <a:prstGeom prst="rect">
            <a:avLst/>
          </a:prstGeom>
          <a:solidFill>
            <a:srgbClr val="0D1220"/>
          </a:solidFill>
          <a:ln w="12700">
            <a:solidFill>
              <a:srgbClr val="0D12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58968" y="164592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validation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470648" y="16459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3816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58968" y="202082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intelligence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470648" y="20208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38160" y="202082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94960" y="2359152"/>
            <a:ext cx="3429000" cy="347472"/>
          </a:xfrm>
          <a:prstGeom prst="rect">
            <a:avLst/>
          </a:prstGeom>
          <a:solidFill>
            <a:srgbClr val="0D1220"/>
          </a:solidFill>
          <a:ln w="12700">
            <a:solidFill>
              <a:srgbClr val="0D12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58968" y="239572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Contagion cascade model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470648" y="23957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38160" y="23957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58968" y="277063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 transparency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470648" y="27706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38160" y="2770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94960" y="3108960"/>
            <a:ext cx="3429000" cy="347472"/>
          </a:xfrm>
          <a:prstGeom prst="rect">
            <a:avLst/>
          </a:prstGeom>
          <a:solidFill>
            <a:srgbClr val="0D1220"/>
          </a:solidFill>
          <a:ln w="12700">
            <a:solidFill>
              <a:srgbClr val="0D12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58968" y="31455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Indian market (NSE/BSE)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470648" y="31455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38160" y="31455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58968" y="35204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Sub-60s analysis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470648" y="35204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38160" y="35204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94960" y="3858768"/>
            <a:ext cx="3429000" cy="347472"/>
          </a:xfrm>
          <a:prstGeom prst="rect">
            <a:avLst/>
          </a:prstGeom>
          <a:solidFill>
            <a:srgbClr val="0D1220"/>
          </a:solidFill>
          <a:ln w="12700">
            <a:solidFill>
              <a:srgbClr val="0D12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58968" y="389534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Geographic risk map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70648" y="38953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138160" y="38953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58968" y="42702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valuation engines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470648" y="42702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138160" y="42702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1–2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4320" y="4818888"/>
            <a:ext cx="8595360" cy="4572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GO-TO-MARKET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HACKATHON TO 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71323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0704"/>
            <a:ext cx="265176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$65B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401227"/>
            <a:ext cx="265176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ANALYTICS MARKET 2027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27832" y="987552"/>
            <a:ext cx="2651760" cy="71323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1060704"/>
            <a:ext cx="265176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27832" y="1401227"/>
            <a:ext cx="265176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 SEAT / YR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135624" y="987552"/>
            <a:ext cx="2651760" cy="713232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1060704"/>
            <a:ext cx="265176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35624" y="1401227"/>
            <a:ext cx="265176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BESPOKE SCENARIO SPEND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502920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28800"/>
            <a:ext cx="1280160" cy="502920"/>
          </a:xfrm>
          <a:prstGeom prst="rect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65376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37360" y="18928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/ Students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74720" y="1920240"/>
            <a:ext cx="10973" cy="3200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1892808"/>
            <a:ext cx="5120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analyses/day  ·  Lead generation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386584"/>
            <a:ext cx="8503920" cy="502920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386584"/>
            <a:ext cx="1280160" cy="5029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42316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37360" y="24505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$99–299/mo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37360" y="26609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Analysts / RIAs / Funds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74720" y="2478024"/>
            <a:ext cx="10973" cy="3200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450592"/>
            <a:ext cx="5120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Unlimited  ·  PDF export  ·  API access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2944368"/>
            <a:ext cx="8503920" cy="502920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944368"/>
            <a:ext cx="1280160" cy="5029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80944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37360" y="3008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$2K–10K/mo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37360" y="3218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Hedge Funds / PE / Family Offices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74720" y="3035808"/>
            <a:ext cx="10973" cy="3200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3008376"/>
            <a:ext cx="5120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domains  ·  SEBI filings  ·  White-label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502152"/>
            <a:ext cx="8503920" cy="502920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502152"/>
            <a:ext cx="1280160" cy="5029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538728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API-AS-A-SERVICE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737360" y="35661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Per-call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737360" y="37764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 / Robo-advisors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474720" y="3593592"/>
            <a:ext cx="10973" cy="3200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0168" y="3566160"/>
            <a:ext cx="5120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 stress-test into existing products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4224528"/>
            <a:ext cx="8595360" cy="4572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279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ECONOMICS — PRO TIER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65760" y="448056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API COST / ANALYSIS   $0.03–0.08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" y="464515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TAVILY COST / ANALYSIS   $0.01–0.02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4809744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MARGIN AT SCALE   &gt;95%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488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INDIAN MARKET (NSE/BSE) SUPPORT — MASSIVELY UNDERSERVED BY WESTERN TOOLS — KEY MOAT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TECH STACK + ROADMAP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 — NEXT 3–6 MONTHS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800600" cy="47548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36576" cy="4754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0424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AI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48056" y="1225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2.0 Flash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1078992"/>
            <a:ext cx="10973" cy="32918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097280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latency/cost for structured JSON · Google AI Studio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517904"/>
            <a:ext cx="4800600" cy="47548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17904"/>
            <a:ext cx="36576" cy="4754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FAILOVER AI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48056" y="1737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NIM (Llama 3.3 70B)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1591056"/>
            <a:ext cx="10973" cy="32918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1609344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Auto-switch if rate-limited — zero user disruption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029968"/>
            <a:ext cx="4800600" cy="47548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029968"/>
            <a:ext cx="36576" cy="4754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20665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SEARCH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48056" y="22494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Tavily API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03120" y="2103120"/>
            <a:ext cx="10973" cy="32918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2121408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Grounds AI in live events — no stale hallucinations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542032"/>
            <a:ext cx="4800600" cy="47548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542032"/>
            <a:ext cx="36576" cy="475488"/>
          </a:xfrm>
          <a:prstGeom prst="rect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25786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DATA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48056" y="27614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yfinance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03120" y="2615184"/>
            <a:ext cx="10973" cy="32918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2633472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prices, fundamentals, FX — 60+ global exchanges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3054096"/>
            <a:ext cx="4800600" cy="47548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054096"/>
            <a:ext cx="36576" cy="475488"/>
          </a:xfrm>
          <a:prstGeom prst="rect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30906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48056" y="32735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03120" y="3127248"/>
            <a:ext cx="10973" cy="32918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0280" y="3145536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Python file — deploy in minutes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566160"/>
            <a:ext cx="4800600" cy="475488"/>
          </a:xfrm>
          <a:prstGeom prst="rect">
            <a:avLst/>
          </a:prstGeom>
          <a:solidFill>
            <a:srgbClr val="0F1525"/>
          </a:solidFill>
          <a:ln w="15240">
            <a:solidFill>
              <a:srgbClr val="1E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566160"/>
            <a:ext cx="36576" cy="475488"/>
          </a:xfrm>
          <a:prstGeom prst="rect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36027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VISUALISATION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48056" y="37856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03120" y="3639312"/>
            <a:ext cx="10973" cy="329184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40280" y="3657600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 maps (Scattermapbox) · Waterfall charts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03520" y="960120"/>
            <a:ext cx="3520440" cy="256032"/>
          </a:xfrm>
          <a:prstGeom prst="rect">
            <a:avLst/>
          </a:prstGeom>
          <a:solidFill>
            <a:srgbClr val="0F1525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9601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ROADMAP — NEXT 3–6 MONTHS ]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03520" y="1307592"/>
            <a:ext cx="3520440" cy="365760"/>
          </a:xfrm>
          <a:prstGeom prst="rect">
            <a:avLst/>
          </a:prstGeom>
          <a:solidFill>
            <a:srgbClr val="0F1525"/>
          </a:solidFill>
          <a:ln w="6350">
            <a:solidFill>
              <a:srgbClr val="1E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0" y="1307592"/>
            <a:ext cx="502920" cy="365760"/>
          </a:xfrm>
          <a:prstGeom prst="rect">
            <a:avLst/>
          </a:prstGeom>
          <a:solidFill>
            <a:srgbClr val="111827"/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13075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897880" y="13624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 EDGAR 10-K Item 1A auto-parsing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03520" y="1728216"/>
            <a:ext cx="3520440" cy="365760"/>
          </a:xfrm>
          <a:prstGeom prst="rect">
            <a:avLst/>
          </a:prstGeom>
          <a:solidFill>
            <a:srgbClr val="0D1220"/>
          </a:solidFill>
          <a:ln w="6350">
            <a:solidFill>
              <a:srgbClr val="1E2A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0" y="1728216"/>
            <a:ext cx="502920" cy="365760"/>
          </a:xfrm>
          <a:prstGeom prst="rect">
            <a:avLst/>
          </a:prstGeom>
          <a:solidFill>
            <a:srgbClr val="111827"/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17282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5897880" y="1783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SEBI / BSE filing integration for Indian equities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03520" y="2148840"/>
            <a:ext cx="3520440" cy="365760"/>
          </a:xfrm>
          <a:prstGeom prst="rect">
            <a:avLst/>
          </a:prstGeom>
          <a:solidFill>
            <a:srgbClr val="0F1525"/>
          </a:solidFill>
          <a:ln w="6350">
            <a:solidFill>
              <a:srgbClr val="1E2A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0" y="2148840"/>
            <a:ext cx="502920" cy="365760"/>
          </a:xfrm>
          <a:prstGeom prst="rect">
            <a:avLst/>
          </a:prstGeom>
          <a:solidFill>
            <a:srgbClr val="111827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0" y="2148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897880" y="22037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Portfolio-level analysis + cross-holding correlation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03520" y="2569464"/>
            <a:ext cx="3520440" cy="365760"/>
          </a:xfrm>
          <a:prstGeom prst="rect">
            <a:avLst/>
          </a:prstGeom>
          <a:solidFill>
            <a:srgbClr val="0D1220"/>
          </a:solidFill>
          <a:ln w="6350">
            <a:solidFill>
              <a:srgbClr val="1E2A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03520" y="2569464"/>
            <a:ext cx="502920" cy="365760"/>
          </a:xfrm>
          <a:prstGeom prst="rect">
            <a:avLst/>
          </a:prstGeom>
          <a:solidFill>
            <a:srgbClr val="111827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25694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897880" y="26243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export: McKinsey-style IC memo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303520" y="2990088"/>
            <a:ext cx="3520440" cy="365760"/>
          </a:xfrm>
          <a:prstGeom prst="rect">
            <a:avLst/>
          </a:prstGeom>
          <a:solidFill>
            <a:srgbClr val="0F1525"/>
          </a:solidFill>
          <a:ln w="6350">
            <a:solidFill>
              <a:srgbClr val="1E2A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03520" y="2990088"/>
            <a:ext cx="502920" cy="365760"/>
          </a:xfrm>
          <a:prstGeom prst="rect">
            <a:avLst/>
          </a:prstGeom>
          <a:solidFill>
            <a:srgbClr val="111827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0" y="2990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897880" y="30449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"Lying Gap" detection: news vs filing divergence = alpha signal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03520" y="3410712"/>
            <a:ext cx="3520440" cy="365760"/>
          </a:xfrm>
          <a:prstGeom prst="rect">
            <a:avLst/>
          </a:prstGeom>
          <a:solidFill>
            <a:srgbClr val="0D1220"/>
          </a:solidFill>
          <a:ln w="6350">
            <a:solidFill>
              <a:srgbClr val="1E2A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03520" y="3410712"/>
            <a:ext cx="502920" cy="365760"/>
          </a:xfrm>
          <a:prstGeom prst="rect">
            <a:avLst/>
          </a:prstGeom>
          <a:solidFill>
            <a:srgbClr val="111827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0" y="3410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897880" y="34655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feedback loops: Chaos &gt;0.8 auto-adjusts VIX/Oil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303520" y="3831336"/>
            <a:ext cx="3520440" cy="365760"/>
          </a:xfrm>
          <a:prstGeom prst="rect">
            <a:avLst/>
          </a:prstGeom>
          <a:solidFill>
            <a:srgbClr val="0F1525"/>
          </a:solidFill>
          <a:ln w="6350">
            <a:solidFill>
              <a:srgbClr val="1E2A4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03520" y="3831336"/>
            <a:ext cx="502920" cy="365760"/>
          </a:xfrm>
          <a:prstGeom prst="rect">
            <a:avLst/>
          </a:prstGeom>
          <a:solidFill>
            <a:srgbClr val="111827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03520" y="38313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897880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/ Teams webhook alerts for watchlist stocks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818888"/>
            <a:ext cx="8595360" cy="45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48371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next crisis won't look like the last one. Doomsday doesn't predict which domino falls — it maps every domino, debates which are unstable, and calculates what happens when they all fall at once."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1075</Words>
  <Application>Microsoft Office PowerPoint</Application>
  <PresentationFormat>On-screen Show (16:9)</PresentationFormat>
  <Paragraphs>195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Doomsday</dc:title>
  <dc:subject>PptxGenJS Presentation</dc:subject>
  <dc:creator>Moosa | IIM Kozhikode</dc:creator>
  <cp:lastModifiedBy>Moosa Al Kaseri</cp:lastModifiedBy>
  <cp:revision>2</cp:revision>
  <dcterms:created xsi:type="dcterms:W3CDTF">2026-05-13T09:33:23Z</dcterms:created>
  <dcterms:modified xsi:type="dcterms:W3CDTF">2026-05-18T02:23:55Z</dcterms:modified>
</cp:coreProperties>
</file>